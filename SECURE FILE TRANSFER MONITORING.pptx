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" charset="1" panose="020B0502030000000004"/>
      <p:regular r:id="rId12"/>
    </p:embeddedFont>
    <p:embeddedFont>
      <p:font typeface="Inter Bold" charset="1" panose="020B080203000000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65595" y="4665514"/>
            <a:ext cx="6356810" cy="674312"/>
            <a:chOff x="0" y="0"/>
            <a:chExt cx="1674222" cy="1775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4222" cy="177597"/>
            </a:xfrm>
            <a:custGeom>
              <a:avLst/>
              <a:gdLst/>
              <a:ahLst/>
              <a:cxnLst/>
              <a:rect r="r" b="b" t="t" l="l"/>
              <a:pathLst>
                <a:path h="177597" w="1674222">
                  <a:moveTo>
                    <a:pt x="88798" y="0"/>
                  </a:moveTo>
                  <a:lnTo>
                    <a:pt x="1585423" y="0"/>
                  </a:lnTo>
                  <a:cubicBezTo>
                    <a:pt x="1634465" y="0"/>
                    <a:pt x="1674222" y="39756"/>
                    <a:pt x="1674222" y="88798"/>
                  </a:cubicBezTo>
                  <a:lnTo>
                    <a:pt x="1674222" y="88798"/>
                  </a:lnTo>
                  <a:cubicBezTo>
                    <a:pt x="1674222" y="112349"/>
                    <a:pt x="1664866" y="134935"/>
                    <a:pt x="1648213" y="151588"/>
                  </a:cubicBezTo>
                  <a:cubicBezTo>
                    <a:pt x="1631560" y="168241"/>
                    <a:pt x="1608974" y="177597"/>
                    <a:pt x="1585423" y="177597"/>
                  </a:cubicBezTo>
                  <a:lnTo>
                    <a:pt x="88798" y="177597"/>
                  </a:lnTo>
                  <a:cubicBezTo>
                    <a:pt x="39756" y="177597"/>
                    <a:pt x="0" y="137840"/>
                    <a:pt x="0" y="88798"/>
                  </a:cubicBezTo>
                  <a:lnTo>
                    <a:pt x="0" y="88798"/>
                  </a:lnTo>
                  <a:cubicBezTo>
                    <a:pt x="0" y="39756"/>
                    <a:pt x="39756" y="0"/>
                    <a:pt x="88798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74222" cy="225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Blue Team Defensive Security Project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9378291">
            <a:off x="14710706" y="6781997"/>
            <a:ext cx="6203238" cy="620323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81782" lIns="81782" bIns="81782" rIns="8178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28200" y="7399491"/>
            <a:ext cx="4968251" cy="4968251"/>
            <a:chOff x="0" y="0"/>
            <a:chExt cx="6624335" cy="662433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24335" cy="662433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47536" y="347536"/>
              <a:ext cx="5929263" cy="59292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-9378291">
            <a:off x="-2579987" y="-2714657"/>
            <a:ext cx="6203238" cy="620323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81782" lIns="81782" bIns="81782" rIns="8178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1962493" y="-2097163"/>
            <a:ext cx="4968251" cy="4968251"/>
            <a:chOff x="0" y="0"/>
            <a:chExt cx="6624335" cy="662433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624335" cy="662433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47536" y="347536"/>
              <a:ext cx="5929263" cy="5929263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3913939" y="2645728"/>
            <a:ext cx="11109983" cy="168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9"/>
              </a:lnSpc>
            </a:pPr>
            <a:r>
              <a:rPr lang="en-US" b="true" sz="6977" spc="-37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SECURE FILE TRANSFER MONITORING SYSTEM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312786" y="5673201"/>
            <a:ext cx="4312289" cy="814129"/>
            <a:chOff x="0" y="0"/>
            <a:chExt cx="1135747" cy="2144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5747" cy="214421"/>
            </a:xfrm>
            <a:custGeom>
              <a:avLst/>
              <a:gdLst/>
              <a:ahLst/>
              <a:cxnLst/>
              <a:rect r="r" b="b" t="t" l="l"/>
              <a:pathLst>
                <a:path h="214421" w="1135747">
                  <a:moveTo>
                    <a:pt x="107210" y="0"/>
                  </a:moveTo>
                  <a:lnTo>
                    <a:pt x="1028537" y="0"/>
                  </a:lnTo>
                  <a:cubicBezTo>
                    <a:pt x="1087747" y="0"/>
                    <a:pt x="1135747" y="48000"/>
                    <a:pt x="1135747" y="107210"/>
                  </a:cubicBezTo>
                  <a:lnTo>
                    <a:pt x="1135747" y="107210"/>
                  </a:lnTo>
                  <a:cubicBezTo>
                    <a:pt x="1135747" y="135644"/>
                    <a:pt x="1124452" y="162914"/>
                    <a:pt x="1104346" y="183020"/>
                  </a:cubicBezTo>
                  <a:cubicBezTo>
                    <a:pt x="1084240" y="203125"/>
                    <a:pt x="1056970" y="214421"/>
                    <a:pt x="1028537" y="214421"/>
                  </a:cubicBezTo>
                  <a:lnTo>
                    <a:pt x="107210" y="214421"/>
                  </a:lnTo>
                  <a:cubicBezTo>
                    <a:pt x="78776" y="214421"/>
                    <a:pt x="51507" y="203125"/>
                    <a:pt x="31401" y="183020"/>
                  </a:cubicBezTo>
                  <a:cubicBezTo>
                    <a:pt x="11295" y="162914"/>
                    <a:pt x="0" y="135644"/>
                    <a:pt x="0" y="107210"/>
                  </a:cubicBezTo>
                  <a:lnTo>
                    <a:pt x="0" y="107210"/>
                  </a:lnTo>
                  <a:cubicBezTo>
                    <a:pt x="0" y="78776"/>
                    <a:pt x="11295" y="51507"/>
                    <a:pt x="31401" y="31401"/>
                  </a:cubicBezTo>
                  <a:cubicBezTo>
                    <a:pt x="51507" y="11295"/>
                    <a:pt x="78776" y="0"/>
                    <a:pt x="10721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135747" cy="252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BY: U M MOHAMED YUSUF SHERIFF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DATE: JAN 29/01/2026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68037" y="2086743"/>
            <a:ext cx="9229072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23790"/>
            <a:ext cx="13125816" cy="302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8077" indent="-374038" lvl="1">
              <a:lnSpc>
                <a:spcPts val="4850"/>
              </a:lnSpc>
              <a:spcBef>
                <a:spcPct val="0"/>
              </a:spcBef>
              <a:buFont typeface="Arial"/>
              <a:buChar char="•"/>
            </a:pPr>
            <a:r>
              <a:rPr lang="en-US" sz="3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 t</a:t>
            </a:r>
            <a:r>
              <a:rPr lang="en-US" sz="3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ransfers pose risks such as data leakage and insider misuse</a:t>
            </a:r>
          </a:p>
          <a:p>
            <a:pPr algn="just" marL="748077" indent="-374038" lvl="1">
              <a:lnSpc>
                <a:spcPts val="4850"/>
              </a:lnSpc>
              <a:spcBef>
                <a:spcPct val="0"/>
              </a:spcBef>
              <a:buFont typeface="Arial"/>
              <a:buChar char="•"/>
            </a:pPr>
            <a:r>
              <a:rPr lang="en-US" sz="3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Organizations require monitoring and audit mechanisms</a:t>
            </a:r>
          </a:p>
          <a:p>
            <a:pPr algn="just" marL="748077" indent="-374038" lvl="1">
              <a:lnSpc>
                <a:spcPts val="4850"/>
              </a:lnSpc>
              <a:spcBef>
                <a:spcPct val="0"/>
              </a:spcBef>
              <a:buFont typeface="Arial"/>
              <a:buChar char="•"/>
            </a:pPr>
            <a:r>
              <a:rPr lang="en-US" sz="3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project demonstrates real-time file activity monitoring</a:t>
            </a:r>
          </a:p>
          <a:p>
            <a:pPr algn="just" marL="748077" indent="-374038" lvl="1">
              <a:lnSpc>
                <a:spcPts val="4850"/>
              </a:lnSpc>
              <a:spcBef>
                <a:spcPct val="0"/>
              </a:spcBef>
              <a:buFont typeface="Arial"/>
              <a:buChar char="•"/>
            </a:pPr>
            <a:r>
              <a:rPr lang="en-US" sz="3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Designed for educational and defensive purposes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92279"/>
            <a:ext cx="7430547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91111"/>
            <a:ext cx="16748601" cy="322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0670" indent="-395335" lvl="1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Monitor file creation, modification, deletion, and movement</a:t>
            </a:r>
          </a:p>
          <a:p>
            <a:pPr algn="just" marL="790670" indent="-395335" lvl="1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Detect unauthorized access to sensitive directories</a:t>
            </a:r>
          </a:p>
          <a:p>
            <a:pPr algn="just" marL="790670" indent="-395335" lvl="1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Verify file integrity using SHA-256 hashing</a:t>
            </a:r>
          </a:p>
          <a:p>
            <a:pPr algn="just" marL="790670" indent="-395335" lvl="1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Generate alerts for policy violations</a:t>
            </a:r>
          </a:p>
          <a:p>
            <a:pPr algn="just" marL="790670" indent="-395335" lvl="1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Maintain structured audit logs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27246" y="1106819"/>
            <a:ext cx="5378878" cy="8073363"/>
          </a:xfrm>
          <a:custGeom>
            <a:avLst/>
            <a:gdLst/>
            <a:ahLst/>
            <a:cxnLst/>
            <a:rect r="r" b="b" t="t" l="l"/>
            <a:pathLst>
              <a:path h="8073363" w="5378878">
                <a:moveTo>
                  <a:pt x="0" y="0"/>
                </a:moveTo>
                <a:lnTo>
                  <a:pt x="5378878" y="0"/>
                </a:lnTo>
                <a:lnTo>
                  <a:pt x="5378878" y="8073362"/>
                </a:lnTo>
                <a:lnTo>
                  <a:pt x="0" y="8073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9373" y="4267835"/>
            <a:ext cx="7392071" cy="19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SYSTEM </a:t>
            </a:r>
          </a:p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6773419" cy="8229600"/>
            <a:chOff x="0" y="0"/>
            <a:chExt cx="465420" cy="565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5420" cy="565478"/>
            </a:xfrm>
            <a:custGeom>
              <a:avLst/>
              <a:gdLst/>
              <a:ahLst/>
              <a:cxnLst/>
              <a:rect r="r" b="b" t="t" l="l"/>
              <a:pathLst>
                <a:path h="565478" w="465420">
                  <a:moveTo>
                    <a:pt x="114299" y="0"/>
                  </a:moveTo>
                  <a:lnTo>
                    <a:pt x="351122" y="0"/>
                  </a:lnTo>
                  <a:cubicBezTo>
                    <a:pt x="414247" y="0"/>
                    <a:pt x="465420" y="51173"/>
                    <a:pt x="465420" y="114299"/>
                  </a:cubicBezTo>
                  <a:lnTo>
                    <a:pt x="465420" y="451180"/>
                  </a:lnTo>
                  <a:cubicBezTo>
                    <a:pt x="465420" y="514305"/>
                    <a:pt x="414247" y="565478"/>
                    <a:pt x="351122" y="565478"/>
                  </a:cubicBezTo>
                  <a:lnTo>
                    <a:pt x="114299" y="565478"/>
                  </a:lnTo>
                  <a:cubicBezTo>
                    <a:pt x="51173" y="565478"/>
                    <a:pt x="0" y="514305"/>
                    <a:pt x="0" y="451180"/>
                  </a:cubicBezTo>
                  <a:lnTo>
                    <a:pt x="0" y="114299"/>
                  </a:lnTo>
                  <a:cubicBezTo>
                    <a:pt x="0" y="51173"/>
                    <a:pt x="51173" y="0"/>
                    <a:pt x="1142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5420" cy="613103"/>
            </a:xfrm>
            <a:prstGeom prst="rect">
              <a:avLst/>
            </a:prstGeom>
          </p:spPr>
          <p:txBody>
            <a:bodyPr anchor="ctr" rtlCol="false" tIns="63943" lIns="63943" bIns="63943" rIns="63943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30957" y="1324117"/>
            <a:ext cx="6168905" cy="7638767"/>
            <a:chOff x="0" y="0"/>
            <a:chExt cx="872841" cy="1080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2841" cy="1080812"/>
            </a:xfrm>
            <a:custGeom>
              <a:avLst/>
              <a:gdLst/>
              <a:ahLst/>
              <a:cxnLst/>
              <a:rect r="r" b="b" t="t" l="l"/>
              <a:pathLst>
                <a:path h="1080812" w="872841">
                  <a:moveTo>
                    <a:pt x="125499" y="0"/>
                  </a:moveTo>
                  <a:lnTo>
                    <a:pt x="747342" y="0"/>
                  </a:lnTo>
                  <a:cubicBezTo>
                    <a:pt x="816653" y="0"/>
                    <a:pt x="872841" y="56188"/>
                    <a:pt x="872841" y="125499"/>
                  </a:cubicBezTo>
                  <a:lnTo>
                    <a:pt x="872841" y="955313"/>
                  </a:lnTo>
                  <a:cubicBezTo>
                    <a:pt x="872841" y="988598"/>
                    <a:pt x="859619" y="1020519"/>
                    <a:pt x="836083" y="1044054"/>
                  </a:cubicBezTo>
                  <a:cubicBezTo>
                    <a:pt x="812548" y="1067590"/>
                    <a:pt x="780626" y="1080812"/>
                    <a:pt x="747342" y="1080812"/>
                  </a:cubicBezTo>
                  <a:lnTo>
                    <a:pt x="125499" y="1080812"/>
                  </a:lnTo>
                  <a:cubicBezTo>
                    <a:pt x="92215" y="1080812"/>
                    <a:pt x="60293" y="1067590"/>
                    <a:pt x="36758" y="1044054"/>
                  </a:cubicBezTo>
                  <a:cubicBezTo>
                    <a:pt x="13222" y="1020519"/>
                    <a:pt x="0" y="988598"/>
                    <a:pt x="0" y="955313"/>
                  </a:cubicBezTo>
                  <a:lnTo>
                    <a:pt x="0" y="125499"/>
                  </a:lnTo>
                  <a:cubicBezTo>
                    <a:pt x="0" y="92215"/>
                    <a:pt x="13222" y="60293"/>
                    <a:pt x="36758" y="36758"/>
                  </a:cubicBezTo>
                  <a:cubicBezTo>
                    <a:pt x="60293" y="13222"/>
                    <a:pt x="92215" y="0"/>
                    <a:pt x="12549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568" r="0" b="-10568"/>
              </a:stretch>
            </a:blipFill>
            <a:ln w="104775" cap="rnd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644107" y="1637002"/>
            <a:ext cx="8615193" cy="196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8044" spc="-43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IMPLEMENTATION &amp; RESULTS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44107" y="4088582"/>
            <a:ext cx="8244805" cy="408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0"/>
              </a:lnSpc>
              <a:spcBef>
                <a:spcPct val="0"/>
              </a:spcBef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</a:t>
            </a: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plementation:</a:t>
            </a: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Developed using Python</a:t>
            </a: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Used watchdog for event detection</a:t>
            </a: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Used hashlib for integrity verification</a:t>
            </a:r>
          </a:p>
          <a:p>
            <a:pPr algn="just">
              <a:lnSpc>
                <a:spcPts val="3280"/>
              </a:lnSpc>
              <a:spcBef>
                <a:spcPct val="0"/>
              </a:spcBef>
            </a:pPr>
          </a:p>
          <a:p>
            <a:pPr algn="just">
              <a:lnSpc>
                <a:spcPts val="3280"/>
              </a:lnSpc>
              <a:spcBef>
                <a:spcPct val="0"/>
              </a:spcBef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Testing Results:</a:t>
            </a: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 creation logged successfully</a:t>
            </a: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 modification logged with updated hash</a:t>
            </a: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Sensitive file movement triggered alert</a:t>
            </a: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activities recorded in log file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16373" y="1365220"/>
            <a:ext cx="11655254" cy="19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CONCLUSION &amp; FUTURE ENHANCEMENTS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75548"/>
            <a:ext cx="12182093" cy="596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30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onclusion: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Demonstrates real-time file monitoring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Successfully detects sensitive file movement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Enhances data visibi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lity and defensive posture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</a:p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Future Enhancements: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Email/SMS alerts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SIEM integration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YAR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rule detection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Behavioral analysis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Cloud monitoring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DAHBX25CSms</dc:identifier>
  <dcterms:modified xsi:type="dcterms:W3CDTF">2011-08-01T06:04:30Z</dcterms:modified>
  <cp:revision>1</cp:revision>
  <dc:title>Blue and Black Modern Cybersecurity Presentation</dc:title>
</cp:coreProperties>
</file>