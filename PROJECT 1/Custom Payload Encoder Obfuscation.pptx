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  <p:embeddedFont>
      <p:font typeface="Glacial Indifference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32448" y="4665514"/>
            <a:ext cx="14872965" cy="1131512"/>
            <a:chOff x="0" y="0"/>
            <a:chExt cx="3917160" cy="298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17159" cy="298011"/>
            </a:xfrm>
            <a:custGeom>
              <a:avLst/>
              <a:gdLst/>
              <a:ahLst/>
              <a:cxnLst/>
              <a:rect r="r" b="b" t="t" l="l"/>
              <a:pathLst>
                <a:path h="298011" w="3917159">
                  <a:moveTo>
                    <a:pt x="45287" y="0"/>
                  </a:moveTo>
                  <a:lnTo>
                    <a:pt x="3871873" y="0"/>
                  </a:lnTo>
                  <a:cubicBezTo>
                    <a:pt x="3896884" y="0"/>
                    <a:pt x="3917159" y="20276"/>
                    <a:pt x="3917159" y="45287"/>
                  </a:cubicBezTo>
                  <a:lnTo>
                    <a:pt x="3917159" y="252725"/>
                  </a:lnTo>
                  <a:cubicBezTo>
                    <a:pt x="3917159" y="264736"/>
                    <a:pt x="3912388" y="276254"/>
                    <a:pt x="3903895" y="284747"/>
                  </a:cubicBezTo>
                  <a:cubicBezTo>
                    <a:pt x="3895402" y="293240"/>
                    <a:pt x="3883883" y="298011"/>
                    <a:pt x="3871873" y="298011"/>
                  </a:cubicBezTo>
                  <a:lnTo>
                    <a:pt x="45287" y="298011"/>
                  </a:lnTo>
                  <a:cubicBezTo>
                    <a:pt x="20276" y="298011"/>
                    <a:pt x="0" y="277736"/>
                    <a:pt x="0" y="252725"/>
                  </a:cubicBezTo>
                  <a:lnTo>
                    <a:pt x="0" y="45287"/>
                  </a:lnTo>
                  <a:cubicBezTo>
                    <a:pt x="0" y="20276"/>
                    <a:pt x="20276" y="0"/>
                    <a:pt x="4528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917160" cy="345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This project demonstrates how encoded and obfuscated payloads can bypass static signature-based detection systems in a controlled lab environment.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9378291">
            <a:off x="14710706" y="6781997"/>
            <a:ext cx="6203238" cy="620323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28200" y="7399491"/>
            <a:ext cx="4968251" cy="4968251"/>
            <a:chOff x="0" y="0"/>
            <a:chExt cx="6624335" cy="662433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-9378291">
            <a:off x="-2579987" y="-2714657"/>
            <a:ext cx="6203238" cy="620323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1962493" y="-2097163"/>
            <a:ext cx="4968251" cy="4968251"/>
            <a:chOff x="0" y="0"/>
            <a:chExt cx="6624335" cy="662433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3913939" y="1713558"/>
            <a:ext cx="11109983" cy="249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9"/>
              </a:lnSpc>
            </a:pPr>
            <a:r>
              <a:rPr lang="en-US" b="true" sz="6977" spc="-37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CUSTOM PAYLOAD ENCODER &amp; OBFUSCATION FRAMEWORKSECURITY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312786" y="5977867"/>
            <a:ext cx="4312289" cy="814129"/>
            <a:chOff x="0" y="0"/>
            <a:chExt cx="1135747" cy="2144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5747" cy="214421"/>
            </a:xfrm>
            <a:custGeom>
              <a:avLst/>
              <a:gdLst/>
              <a:ahLst/>
              <a:cxnLst/>
              <a:rect r="r" b="b" t="t" l="l"/>
              <a:pathLst>
                <a:path h="214421" w="1135747">
                  <a:moveTo>
                    <a:pt x="107210" y="0"/>
                  </a:moveTo>
                  <a:lnTo>
                    <a:pt x="1028537" y="0"/>
                  </a:lnTo>
                  <a:cubicBezTo>
                    <a:pt x="1087747" y="0"/>
                    <a:pt x="1135747" y="48000"/>
                    <a:pt x="1135747" y="107210"/>
                  </a:cubicBezTo>
                  <a:lnTo>
                    <a:pt x="1135747" y="107210"/>
                  </a:lnTo>
                  <a:cubicBezTo>
                    <a:pt x="1135747" y="135644"/>
                    <a:pt x="1124452" y="162914"/>
                    <a:pt x="1104346" y="183020"/>
                  </a:cubicBezTo>
                  <a:cubicBezTo>
                    <a:pt x="1084240" y="203125"/>
                    <a:pt x="1056970" y="214421"/>
                    <a:pt x="1028537" y="214421"/>
                  </a:cubicBezTo>
                  <a:lnTo>
                    <a:pt x="107210" y="214421"/>
                  </a:lnTo>
                  <a:cubicBezTo>
                    <a:pt x="78776" y="214421"/>
                    <a:pt x="51507" y="203125"/>
                    <a:pt x="31401" y="183020"/>
                  </a:cubicBezTo>
                  <a:cubicBezTo>
                    <a:pt x="11295" y="162914"/>
                    <a:pt x="0" y="135644"/>
                    <a:pt x="0" y="107210"/>
                  </a:cubicBezTo>
                  <a:lnTo>
                    <a:pt x="0" y="107210"/>
                  </a:lnTo>
                  <a:cubicBezTo>
                    <a:pt x="0" y="78776"/>
                    <a:pt x="11295" y="51507"/>
                    <a:pt x="31401" y="31401"/>
                  </a:cubicBezTo>
                  <a:cubicBezTo>
                    <a:pt x="51507" y="11295"/>
                    <a:pt x="78776" y="0"/>
                    <a:pt x="10721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135747" cy="252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BY: U M MOHAMED YUSUF SHERIFF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DATE: JAN 29/01/2026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79423" y="1192065"/>
            <a:ext cx="5679877" cy="7902869"/>
            <a:chOff x="0" y="0"/>
            <a:chExt cx="390280" cy="5430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0280" cy="543028"/>
            </a:xfrm>
            <a:custGeom>
              <a:avLst/>
              <a:gdLst/>
              <a:ahLst/>
              <a:cxnLst/>
              <a:rect r="r" b="b" t="t" l="l"/>
              <a:pathLst>
                <a:path h="543028" w="390280">
                  <a:moveTo>
                    <a:pt x="136304" y="0"/>
                  </a:moveTo>
                  <a:lnTo>
                    <a:pt x="253975" y="0"/>
                  </a:lnTo>
                  <a:cubicBezTo>
                    <a:pt x="290126" y="0"/>
                    <a:pt x="324795" y="14361"/>
                    <a:pt x="350357" y="39923"/>
                  </a:cubicBezTo>
                  <a:cubicBezTo>
                    <a:pt x="375919" y="65485"/>
                    <a:pt x="390280" y="100154"/>
                    <a:pt x="390280" y="136304"/>
                  </a:cubicBezTo>
                  <a:lnTo>
                    <a:pt x="390280" y="406723"/>
                  </a:lnTo>
                  <a:cubicBezTo>
                    <a:pt x="390280" y="442873"/>
                    <a:pt x="375919" y="477543"/>
                    <a:pt x="350357" y="503105"/>
                  </a:cubicBezTo>
                  <a:cubicBezTo>
                    <a:pt x="324795" y="528667"/>
                    <a:pt x="290126" y="543028"/>
                    <a:pt x="253975" y="543028"/>
                  </a:cubicBezTo>
                  <a:lnTo>
                    <a:pt x="136304" y="543028"/>
                  </a:lnTo>
                  <a:cubicBezTo>
                    <a:pt x="100154" y="543028"/>
                    <a:pt x="65485" y="528667"/>
                    <a:pt x="39923" y="503105"/>
                  </a:cubicBezTo>
                  <a:cubicBezTo>
                    <a:pt x="14361" y="477543"/>
                    <a:pt x="0" y="442873"/>
                    <a:pt x="0" y="406723"/>
                  </a:cubicBezTo>
                  <a:lnTo>
                    <a:pt x="0" y="136304"/>
                  </a:lnTo>
                  <a:cubicBezTo>
                    <a:pt x="0" y="100154"/>
                    <a:pt x="14361" y="65485"/>
                    <a:pt x="39923" y="39923"/>
                  </a:cubicBezTo>
                  <a:cubicBezTo>
                    <a:pt x="65485" y="14361"/>
                    <a:pt x="100154" y="0"/>
                    <a:pt x="1363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90280" cy="590653"/>
            </a:xfrm>
            <a:prstGeom prst="rect">
              <a:avLst/>
            </a:prstGeom>
          </p:spPr>
          <p:txBody>
            <a:bodyPr anchor="ctr" rtlCol="false" tIns="63943" lIns="63943" bIns="63943" rIns="63943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23349" y="1485779"/>
            <a:ext cx="4992024" cy="7315442"/>
            <a:chOff x="0" y="0"/>
            <a:chExt cx="694069" cy="10171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069" cy="1017107"/>
            </a:xfrm>
            <a:custGeom>
              <a:avLst/>
              <a:gdLst/>
              <a:ahLst/>
              <a:cxnLst/>
              <a:rect r="r" b="b" t="t" l="l"/>
              <a:pathLst>
                <a:path h="1017107" w="694069">
                  <a:moveTo>
                    <a:pt x="155086" y="0"/>
                  </a:moveTo>
                  <a:lnTo>
                    <a:pt x="538983" y="0"/>
                  </a:lnTo>
                  <a:cubicBezTo>
                    <a:pt x="624635" y="0"/>
                    <a:pt x="694069" y="69434"/>
                    <a:pt x="694069" y="155086"/>
                  </a:cubicBezTo>
                  <a:lnTo>
                    <a:pt x="694069" y="862021"/>
                  </a:lnTo>
                  <a:cubicBezTo>
                    <a:pt x="694069" y="903152"/>
                    <a:pt x="677729" y="942599"/>
                    <a:pt x="648645" y="971683"/>
                  </a:cubicBezTo>
                  <a:cubicBezTo>
                    <a:pt x="619561" y="1000767"/>
                    <a:pt x="580114" y="1017107"/>
                    <a:pt x="538983" y="1017107"/>
                  </a:cubicBezTo>
                  <a:lnTo>
                    <a:pt x="155086" y="1017107"/>
                  </a:lnTo>
                  <a:cubicBezTo>
                    <a:pt x="113954" y="1017107"/>
                    <a:pt x="74508" y="1000767"/>
                    <a:pt x="45424" y="971683"/>
                  </a:cubicBezTo>
                  <a:cubicBezTo>
                    <a:pt x="16339" y="942599"/>
                    <a:pt x="0" y="903152"/>
                    <a:pt x="0" y="862021"/>
                  </a:cubicBezTo>
                  <a:lnTo>
                    <a:pt x="0" y="155086"/>
                  </a:lnTo>
                  <a:cubicBezTo>
                    <a:pt x="0" y="113954"/>
                    <a:pt x="16339" y="74508"/>
                    <a:pt x="45424" y="45424"/>
                  </a:cubicBezTo>
                  <a:cubicBezTo>
                    <a:pt x="74508" y="16339"/>
                    <a:pt x="113954" y="0"/>
                    <a:pt x="155086" y="0"/>
                  </a:cubicBezTo>
                  <a:close/>
                </a:path>
              </a:pathLst>
            </a:custGeom>
            <a:blipFill>
              <a:blip r:embed="rId2"/>
              <a:stretch>
                <a:fillRect l="-72522" t="0" r="-47291" b="0"/>
              </a:stretch>
            </a:blipFill>
            <a:ln w="104775" cap="rnd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568037" y="2086743"/>
            <a:ext cx="9229072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ABSTRACT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466456"/>
            <a:ext cx="10050169" cy="419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2787" indent="-286394" lvl="1">
              <a:lnSpc>
                <a:spcPts val="3714"/>
              </a:lnSpc>
              <a:spcBef>
                <a:spcPct val="0"/>
              </a:spcBef>
              <a:buFont typeface="Arial"/>
              <a:buChar char="•"/>
            </a:pPr>
            <a:r>
              <a:rPr lang="en-US" sz="26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Signatu</a:t>
            </a:r>
            <a:r>
              <a:rPr lang="en-US" sz="26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re-based security systems rely on matching predefined static patterns to detect malicious payloads. However, simple encoding and obfuscation techniques can alter payload structure without changing its functionality.</a:t>
            </a:r>
          </a:p>
          <a:p>
            <a:pPr algn="just">
              <a:lnSpc>
                <a:spcPts val="3714"/>
              </a:lnSpc>
              <a:spcBef>
                <a:spcPct val="0"/>
              </a:spcBef>
            </a:pPr>
          </a:p>
          <a:p>
            <a:pPr algn="just" marL="572787" indent="-286394" lvl="1">
              <a:lnSpc>
                <a:spcPts val="3714"/>
              </a:lnSpc>
              <a:spcBef>
                <a:spcPct val="0"/>
              </a:spcBef>
              <a:buFont typeface="Arial"/>
              <a:buChar char="•"/>
            </a:pPr>
            <a:r>
              <a:rPr lang="en-US" sz="26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project implements a custom payload encoding framework to demonstrate how static detection systems can be bypassed using safe and controlled techniques in a laboratory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92279"/>
            <a:ext cx="7430547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54657"/>
            <a:ext cx="13026312" cy="402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4947" indent="-307474" lvl="1">
              <a:lnSpc>
                <a:spcPts val="3987"/>
              </a:lnSpc>
              <a:buFont typeface="Arial"/>
              <a:buChar char="•"/>
            </a:pPr>
            <a:r>
              <a:rPr lang="en-US" sz="2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ost traditional antivirus and intrusion detection systems depend on static signature matching to identify malicious commands or payloads.</a:t>
            </a:r>
          </a:p>
          <a:p>
            <a:pPr algn="just">
              <a:lnSpc>
                <a:spcPts val="3987"/>
              </a:lnSpc>
            </a:pPr>
          </a:p>
          <a:p>
            <a:pPr algn="just" marL="614947" indent="-307474" lvl="1">
              <a:lnSpc>
                <a:spcPts val="3987"/>
              </a:lnSpc>
              <a:buFont typeface="Arial"/>
              <a:buChar char="•"/>
            </a:pPr>
            <a:r>
              <a:rPr lang="en-US" sz="2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When payloads are encoded or obfuscated, their visible structure changes, making it difficult for signature-based systems to detect them.</a:t>
            </a:r>
          </a:p>
          <a:p>
            <a:pPr algn="just">
              <a:lnSpc>
                <a:spcPts val="3987"/>
              </a:lnSpc>
            </a:pPr>
          </a:p>
          <a:p>
            <a:pPr algn="just" marL="614947" indent="-307474" lvl="1">
              <a:lnSpc>
                <a:spcPts val="3987"/>
              </a:lnSpc>
              <a:buFont typeface="Arial"/>
              <a:buChar char="•"/>
            </a:pPr>
            <a:r>
              <a:rPr lang="en-US" sz="2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Understanding these evasion techniques is essential for improving defensive cybersecurity strategies.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51789" y="3551319"/>
            <a:ext cx="17584422" cy="0"/>
          </a:xfrm>
          <a:prstGeom prst="line">
            <a:avLst/>
          </a:prstGeom>
          <a:ln cap="flat" w="3810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051162" y="1701804"/>
            <a:ext cx="14185676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19325"/>
            <a:ext cx="18776465" cy="293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4"/>
              </a:lnSpc>
              <a:spcBef>
                <a:spcPct val="0"/>
              </a:spcBef>
            </a:pPr>
            <a:r>
              <a:rPr lang="en-US" sz="28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28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main objectives of this project are:</a:t>
            </a:r>
          </a:p>
          <a:p>
            <a:pPr algn="just" marL="608342" indent="-304171" lvl="1">
              <a:lnSpc>
                <a:spcPts val="3944"/>
              </a:lnSpc>
              <a:spcBef>
                <a:spcPct val="0"/>
              </a:spcBef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design and implement a payload encoding framework</a:t>
            </a:r>
          </a:p>
          <a:p>
            <a:pPr algn="just" marL="608342" indent="-304171" lvl="1">
              <a:lnSpc>
                <a:spcPts val="3944"/>
              </a:lnSpc>
              <a:spcBef>
                <a:spcPct val="0"/>
              </a:spcBef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apply encoding and obfuscation techniques such as XOR and ROT13</a:t>
            </a:r>
          </a:p>
          <a:p>
            <a:pPr algn="just" marL="608342" indent="-304171" lvl="1">
              <a:lnSpc>
                <a:spcPts val="3944"/>
              </a:lnSpc>
              <a:spcBef>
                <a:spcPct val="0"/>
              </a:spcBef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simulate a signature-based detection mechanism</a:t>
            </a:r>
          </a:p>
          <a:p>
            <a:pPr algn="just" marL="608342" indent="-304171" lvl="1">
              <a:lnSpc>
                <a:spcPts val="3944"/>
              </a:lnSpc>
              <a:spcBef>
                <a:spcPct val="0"/>
              </a:spcBef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compare detection results between original and encoded payloads</a:t>
            </a:r>
          </a:p>
          <a:p>
            <a:pPr algn="just" marL="608342" indent="-304171" lvl="1">
              <a:lnSpc>
                <a:spcPts val="3944"/>
              </a:lnSpc>
              <a:spcBef>
                <a:spcPct val="0"/>
              </a:spcBef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analyze the effectiveness of detection evasion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6773419" cy="8229600"/>
            <a:chOff x="0" y="0"/>
            <a:chExt cx="465420" cy="565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5420" cy="565478"/>
            </a:xfrm>
            <a:custGeom>
              <a:avLst/>
              <a:gdLst/>
              <a:ahLst/>
              <a:cxnLst/>
              <a:rect r="r" b="b" t="t" l="l"/>
              <a:pathLst>
                <a:path h="565478" w="465420">
                  <a:moveTo>
                    <a:pt x="114299" y="0"/>
                  </a:moveTo>
                  <a:lnTo>
                    <a:pt x="351122" y="0"/>
                  </a:lnTo>
                  <a:cubicBezTo>
                    <a:pt x="414247" y="0"/>
                    <a:pt x="465420" y="51173"/>
                    <a:pt x="465420" y="114299"/>
                  </a:cubicBezTo>
                  <a:lnTo>
                    <a:pt x="465420" y="451180"/>
                  </a:lnTo>
                  <a:cubicBezTo>
                    <a:pt x="465420" y="514305"/>
                    <a:pt x="414247" y="565478"/>
                    <a:pt x="351122" y="565478"/>
                  </a:cubicBezTo>
                  <a:lnTo>
                    <a:pt x="114299" y="565478"/>
                  </a:lnTo>
                  <a:cubicBezTo>
                    <a:pt x="51173" y="565478"/>
                    <a:pt x="0" y="514305"/>
                    <a:pt x="0" y="451180"/>
                  </a:cubicBezTo>
                  <a:lnTo>
                    <a:pt x="0" y="114299"/>
                  </a:lnTo>
                  <a:cubicBezTo>
                    <a:pt x="0" y="51173"/>
                    <a:pt x="51173" y="0"/>
                    <a:pt x="1142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5420" cy="613103"/>
            </a:xfrm>
            <a:prstGeom prst="rect">
              <a:avLst/>
            </a:prstGeom>
          </p:spPr>
          <p:txBody>
            <a:bodyPr anchor="ctr" rtlCol="false" tIns="63943" lIns="63943" bIns="63943" rIns="63943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30957" y="1324117"/>
            <a:ext cx="6168905" cy="7638767"/>
            <a:chOff x="0" y="0"/>
            <a:chExt cx="872841" cy="1080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2841" cy="1080812"/>
            </a:xfrm>
            <a:custGeom>
              <a:avLst/>
              <a:gdLst/>
              <a:ahLst/>
              <a:cxnLst/>
              <a:rect r="r" b="b" t="t" l="l"/>
              <a:pathLst>
                <a:path h="1080812" w="872841">
                  <a:moveTo>
                    <a:pt x="125499" y="0"/>
                  </a:moveTo>
                  <a:lnTo>
                    <a:pt x="747342" y="0"/>
                  </a:lnTo>
                  <a:cubicBezTo>
                    <a:pt x="816653" y="0"/>
                    <a:pt x="872841" y="56188"/>
                    <a:pt x="872841" y="125499"/>
                  </a:cubicBezTo>
                  <a:lnTo>
                    <a:pt x="872841" y="955313"/>
                  </a:lnTo>
                  <a:cubicBezTo>
                    <a:pt x="872841" y="988598"/>
                    <a:pt x="859619" y="1020519"/>
                    <a:pt x="836083" y="1044054"/>
                  </a:cubicBezTo>
                  <a:cubicBezTo>
                    <a:pt x="812548" y="1067590"/>
                    <a:pt x="780626" y="1080812"/>
                    <a:pt x="747342" y="1080812"/>
                  </a:cubicBezTo>
                  <a:lnTo>
                    <a:pt x="125499" y="1080812"/>
                  </a:lnTo>
                  <a:cubicBezTo>
                    <a:pt x="92215" y="1080812"/>
                    <a:pt x="60293" y="1067590"/>
                    <a:pt x="36758" y="1044054"/>
                  </a:cubicBezTo>
                  <a:cubicBezTo>
                    <a:pt x="13222" y="1020519"/>
                    <a:pt x="0" y="988598"/>
                    <a:pt x="0" y="955313"/>
                  </a:cubicBezTo>
                  <a:lnTo>
                    <a:pt x="0" y="125499"/>
                  </a:lnTo>
                  <a:cubicBezTo>
                    <a:pt x="0" y="92215"/>
                    <a:pt x="13222" y="60293"/>
                    <a:pt x="36758" y="36758"/>
                  </a:cubicBezTo>
                  <a:cubicBezTo>
                    <a:pt x="60293" y="13222"/>
                    <a:pt x="92215" y="0"/>
                    <a:pt x="12549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568" r="0" b="-10568"/>
              </a:stretch>
            </a:blipFill>
            <a:ln w="104775" cap="rnd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644107" y="1637002"/>
            <a:ext cx="5666930" cy="196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8044" spc="-43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SCOPE &amp; ETHICS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44107" y="4088582"/>
            <a:ext cx="8244805" cy="44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0"/>
              </a:lnSpc>
              <a:spcBef>
                <a:spcPct val="0"/>
              </a:spcBef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</a:t>
            </a: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ope:</a:t>
            </a:r>
          </a:p>
          <a:p>
            <a:pPr algn="just">
              <a:lnSpc>
                <a:spcPts val="3280"/>
              </a:lnSpc>
              <a:spcBef>
                <a:spcPct val="0"/>
              </a:spcBef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This project focuses only on text-based payloads executed in an isolated lab environment. The detection mechanism simulates static signature scanning without interacting with real-world systems.</a:t>
            </a:r>
          </a:p>
          <a:p>
            <a:pPr algn="just">
              <a:lnSpc>
                <a:spcPts val="3280"/>
              </a:lnSpc>
              <a:spcBef>
                <a:spcPct val="0"/>
              </a:spcBef>
            </a:pPr>
          </a:p>
          <a:p>
            <a:pPr algn="just">
              <a:lnSpc>
                <a:spcPts val="3280"/>
              </a:lnSpc>
              <a:spcBef>
                <a:spcPct val="0"/>
              </a:spcBef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Ethics:</a:t>
            </a:r>
          </a:p>
          <a:p>
            <a:pPr algn="just">
              <a:lnSpc>
                <a:spcPts val="3280"/>
              </a:lnSpc>
              <a:spcBef>
                <a:spcPct val="0"/>
              </a:spcBef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No real malware, exploitation, or unauthorized access is performed. The project is strictly for academic and educational purposes to understand defensive security concepts.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51789" y="4671541"/>
            <a:ext cx="17584422" cy="0"/>
          </a:xfrm>
          <a:prstGeom prst="line">
            <a:avLst/>
          </a:prstGeom>
          <a:ln cap="flat" w="3810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733049" y="1767685"/>
            <a:ext cx="8821902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TOOLS &amp; ENVIRONMENT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7151" y="4911731"/>
            <a:ext cx="12182093" cy="433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project was implemented using: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Kali Linux running in a virtual machine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 3 programming language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Terminal and text editor for development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Offline or NAT network configuration for safe testing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</a:p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experiments were conducted in a controlled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7903" y="424531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9378291">
            <a:off x="-2579987" y="-2714657"/>
            <a:ext cx="6203238" cy="62032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62493" y="-2097163"/>
            <a:ext cx="4968251" cy="4968251"/>
            <a:chOff x="0" y="0"/>
            <a:chExt cx="6624335" cy="662433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10576579" y="3478534"/>
            <a:ext cx="7062376" cy="4708251"/>
          </a:xfrm>
          <a:custGeom>
            <a:avLst/>
            <a:gdLst/>
            <a:ahLst/>
            <a:cxnLst/>
            <a:rect r="r" b="b" t="t" l="l"/>
            <a:pathLst>
              <a:path h="4708251" w="7062376">
                <a:moveTo>
                  <a:pt x="0" y="0"/>
                </a:moveTo>
                <a:lnTo>
                  <a:pt x="7062376" y="0"/>
                </a:lnTo>
                <a:lnTo>
                  <a:pt x="7062376" y="4708251"/>
                </a:lnTo>
                <a:lnTo>
                  <a:pt x="0" y="470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71144" y="938950"/>
            <a:ext cx="11726410" cy="101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5"/>
              </a:lnSpc>
            </a:pPr>
            <a:r>
              <a:rPr lang="en-US" b="true" sz="7963" spc="-43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SYSTEM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1632" y="3961204"/>
            <a:ext cx="10160654" cy="3228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9"/>
              </a:lnSpc>
            </a:pPr>
            <a:r>
              <a:rPr lang="en-US" sz="3477" spc="-18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system consists of three main components:</a:t>
            </a:r>
          </a:p>
          <a:p>
            <a:pPr algn="just">
              <a:lnSpc>
                <a:spcPts val="3199"/>
              </a:lnSpc>
            </a:pPr>
          </a:p>
          <a:p>
            <a:pPr algn="just" marL="750770" indent="-375385" lvl="1">
              <a:lnSpc>
                <a:spcPts val="3199"/>
              </a:lnSpc>
              <a:buAutoNum type="arabicPeriod" startAt="1"/>
            </a:pPr>
            <a:r>
              <a:rPr lang="en-US" sz="3477" spc="-18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Input Module – Accepts the original payload</a:t>
            </a:r>
          </a:p>
          <a:p>
            <a:pPr algn="just" marL="750770" indent="-375385" lvl="1">
              <a:lnSpc>
                <a:spcPts val="3199"/>
              </a:lnSpc>
              <a:buAutoNum type="arabicPeriod" startAt="1"/>
            </a:pPr>
            <a:r>
              <a:rPr lang="en-US" sz="3477" spc="-18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Encoding Module – Applies XOR, ROT13, or obfuscation</a:t>
            </a:r>
          </a:p>
          <a:p>
            <a:pPr algn="just" marL="750770" indent="-375385" lvl="1">
              <a:lnSpc>
                <a:spcPts val="3199"/>
              </a:lnSpc>
              <a:buAutoNum type="arabicPeriod" startAt="1"/>
            </a:pPr>
            <a:r>
              <a:rPr lang="en-US" sz="3477" spc="-18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Detection Module – Scans for signature patterns</a:t>
            </a:r>
          </a:p>
          <a:p>
            <a:pPr algn="just">
              <a:lnSpc>
                <a:spcPts val="3199"/>
              </a:lnSpc>
            </a:pPr>
          </a:p>
          <a:p>
            <a:pPr algn="just">
              <a:lnSpc>
                <a:spcPts val="3199"/>
              </a:lnSpc>
            </a:pPr>
            <a:r>
              <a:rPr lang="en-US" sz="3477" spc="-18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detection result is then displayed as “Detected” or </a:t>
            </a:r>
          </a:p>
          <a:p>
            <a:pPr algn="just">
              <a:lnSpc>
                <a:spcPts val="3199"/>
              </a:lnSpc>
            </a:pPr>
            <a:r>
              <a:rPr lang="en-US" sz="3477" spc="-18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“Not Detected”.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7543" y="1917562"/>
            <a:ext cx="8821902" cy="288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ENCODING &amp; OBFUSCATION TECHNIQUES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1390" y="4754743"/>
            <a:ext cx="14097826" cy="438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oject implements the following techniques: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XOR Encoding: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Uses a secret key to transform payload characters into unreadable format.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ROT13 Encoding: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Applies a substitution cipher that shifts alphabet characters by 13 positions.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String Obfuscation: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Breaks known patterns using delimiters or character separation to avoid detection.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These techniques modify appearance without changing logic.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10244"/>
            <a:ext cx="8196801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DETECTION MECHANISM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78040"/>
            <a:ext cx="11217459" cy="441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6"/>
              </a:lnSpc>
              <a:spcBef>
                <a:spcPct val="0"/>
              </a:spcBef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detection system uses keyword-based static signature scanning.</a:t>
            </a:r>
          </a:p>
          <a:p>
            <a:pPr algn="just">
              <a:lnSpc>
                <a:spcPts val="3946"/>
              </a:lnSpc>
              <a:spcBef>
                <a:spcPct val="0"/>
              </a:spcBef>
            </a:pPr>
          </a:p>
          <a:p>
            <a:pPr algn="just">
              <a:lnSpc>
                <a:spcPts val="3946"/>
              </a:lnSpc>
              <a:spcBef>
                <a:spcPct val="0"/>
              </a:spcBef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 searches for predefined command patterns within the payload.</a:t>
            </a:r>
          </a:p>
          <a:p>
            <a:pPr algn="just">
              <a:lnSpc>
                <a:spcPts val="3946"/>
              </a:lnSpc>
              <a:spcBef>
                <a:spcPct val="0"/>
              </a:spcBef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If a known pattern is found, the payload is marked as “Detected.”</a:t>
            </a:r>
          </a:p>
          <a:p>
            <a:pPr algn="just">
              <a:lnSpc>
                <a:spcPts val="3946"/>
              </a:lnSpc>
              <a:spcBef>
                <a:spcPct val="0"/>
              </a:spcBef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If no match is found, it is marked as “Not Detected.”</a:t>
            </a:r>
          </a:p>
          <a:p>
            <a:pPr algn="just">
              <a:lnSpc>
                <a:spcPts val="3946"/>
              </a:lnSpc>
              <a:spcBef>
                <a:spcPct val="0"/>
              </a:spcBef>
            </a:pPr>
          </a:p>
          <a:p>
            <a:pPr algn="just">
              <a:lnSpc>
                <a:spcPts val="3946"/>
              </a:lnSpc>
              <a:spcBef>
                <a:spcPct val="0"/>
              </a:spcBef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simulates how traditional static antivirus systems operate.</a:t>
            </a:r>
          </a:p>
          <a:p>
            <a:pPr algn="just">
              <a:lnSpc>
                <a:spcPts val="39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10244"/>
            <a:ext cx="8196801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02843"/>
            <a:ext cx="11217459" cy="539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6"/>
              </a:lnSpc>
              <a:spcBef>
                <a:spcPct val="0"/>
              </a:spcBef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results show a clear difference between original and encoded payloads:</a:t>
            </a:r>
          </a:p>
          <a:p>
            <a:pPr algn="just">
              <a:lnSpc>
                <a:spcPts val="3946"/>
              </a:lnSpc>
              <a:spcBef>
                <a:spcPct val="0"/>
              </a:spcBef>
            </a:pPr>
          </a:p>
          <a:p>
            <a:pPr algn="just" marL="608561" indent="-304280" lvl="1">
              <a:lnSpc>
                <a:spcPts val="3946"/>
              </a:lnSpc>
              <a:spcBef>
                <a:spcPct val="0"/>
              </a:spcBef>
              <a:buFont typeface="Arial"/>
              <a:buChar char="•"/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original payload was successfully detected.</a:t>
            </a:r>
          </a:p>
          <a:p>
            <a:pPr algn="just" marL="608561" indent="-304280" lvl="1">
              <a:lnSpc>
                <a:spcPts val="3946"/>
              </a:lnSpc>
              <a:spcBef>
                <a:spcPct val="0"/>
              </a:spcBef>
              <a:buFont typeface="Arial"/>
              <a:buChar char="•"/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XOR encoded payload bypassed detection.</a:t>
            </a:r>
          </a:p>
          <a:p>
            <a:pPr algn="just" marL="608561" indent="-304280" lvl="1">
              <a:lnSpc>
                <a:spcPts val="3946"/>
              </a:lnSpc>
              <a:spcBef>
                <a:spcPct val="0"/>
              </a:spcBef>
              <a:buFont typeface="Arial"/>
              <a:buChar char="•"/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ROT13 encoded payload bypassed detection.</a:t>
            </a:r>
          </a:p>
          <a:p>
            <a:pPr algn="just" marL="608561" indent="-304280" lvl="1">
              <a:lnSpc>
                <a:spcPts val="3946"/>
              </a:lnSpc>
              <a:spcBef>
                <a:spcPct val="0"/>
              </a:spcBef>
              <a:buFont typeface="Arial"/>
              <a:buChar char="•"/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Obfuscated payload also bypassed detection.</a:t>
            </a:r>
          </a:p>
          <a:p>
            <a:pPr algn="just">
              <a:lnSpc>
                <a:spcPts val="3946"/>
              </a:lnSpc>
              <a:spcBef>
                <a:spcPct val="0"/>
              </a:spcBef>
            </a:pPr>
          </a:p>
          <a:p>
            <a:pPr algn="just">
              <a:lnSpc>
                <a:spcPts val="3946"/>
              </a:lnSpc>
              <a:spcBef>
                <a:spcPct val="0"/>
              </a:spcBef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demonstrates the weakness of simple signature-based systems.</a:t>
            </a:r>
          </a:p>
          <a:p>
            <a:pPr algn="just">
              <a:lnSpc>
                <a:spcPts val="39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10244"/>
            <a:ext cx="8196801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02843"/>
            <a:ext cx="13165389" cy="394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8561" indent="-304281" lvl="1">
              <a:lnSpc>
                <a:spcPts val="3946"/>
              </a:lnSpc>
              <a:buFont typeface="Arial"/>
              <a:buChar char="•"/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project proves that static signature-based detection systems can be bypassed using simple encoding and obfuscation techniques.</a:t>
            </a:r>
          </a:p>
          <a:p>
            <a:pPr algn="just">
              <a:lnSpc>
                <a:spcPts val="3946"/>
              </a:lnSpc>
            </a:pPr>
          </a:p>
          <a:p>
            <a:pPr algn="just" marL="608561" indent="-304281" lvl="1">
              <a:lnSpc>
                <a:spcPts val="3946"/>
              </a:lnSpc>
              <a:buFont typeface="Arial"/>
              <a:buChar char="•"/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While the original payload was detected, encoded versions evaded detection successfully.</a:t>
            </a:r>
          </a:p>
          <a:p>
            <a:pPr algn="just">
              <a:lnSpc>
                <a:spcPts val="3946"/>
              </a:lnSpc>
            </a:pPr>
          </a:p>
          <a:p>
            <a:pPr algn="just" marL="608561" indent="-304281" lvl="1">
              <a:lnSpc>
                <a:spcPts val="3946"/>
              </a:lnSpc>
              <a:spcBef>
                <a:spcPct val="0"/>
              </a:spcBef>
              <a:buFont typeface="Arial"/>
              <a:buChar char="•"/>
            </a:pPr>
            <a:r>
              <a:rPr lang="en-US" sz="28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highlights the need for advanced detection mechanisms such as behavioral analysis and heuristic scanning.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DAHBX25CSms</dc:identifier>
  <dcterms:modified xsi:type="dcterms:W3CDTF">2011-08-01T06:04:30Z</dcterms:modified>
  <cp:revision>1</cp:revision>
  <dc:title>Blue and Black Modern Cybersecurity Presentation</dc:title>
</cp:coreProperties>
</file>