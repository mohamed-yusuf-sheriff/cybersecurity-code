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er" charset="1" panose="020B0502030000000004"/>
      <p:regular r:id="rId14"/>
    </p:embeddedFont>
    <p:embeddedFont>
      <p:font typeface="Inter Bold" charset="1" panose="020B080203000000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65595" y="4665514"/>
            <a:ext cx="6356810" cy="674312"/>
            <a:chOff x="0" y="0"/>
            <a:chExt cx="1674222" cy="1775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4222" cy="177597"/>
            </a:xfrm>
            <a:custGeom>
              <a:avLst/>
              <a:gdLst/>
              <a:ahLst/>
              <a:cxnLst/>
              <a:rect r="r" b="b" t="t" l="l"/>
              <a:pathLst>
                <a:path h="177597" w="1674222">
                  <a:moveTo>
                    <a:pt x="88798" y="0"/>
                  </a:moveTo>
                  <a:lnTo>
                    <a:pt x="1585423" y="0"/>
                  </a:lnTo>
                  <a:cubicBezTo>
                    <a:pt x="1634465" y="0"/>
                    <a:pt x="1674222" y="39756"/>
                    <a:pt x="1674222" y="88798"/>
                  </a:cubicBezTo>
                  <a:lnTo>
                    <a:pt x="1674222" y="88798"/>
                  </a:lnTo>
                  <a:cubicBezTo>
                    <a:pt x="1674222" y="112349"/>
                    <a:pt x="1664866" y="134935"/>
                    <a:pt x="1648213" y="151588"/>
                  </a:cubicBezTo>
                  <a:cubicBezTo>
                    <a:pt x="1631560" y="168241"/>
                    <a:pt x="1608974" y="177597"/>
                    <a:pt x="1585423" y="177597"/>
                  </a:cubicBezTo>
                  <a:lnTo>
                    <a:pt x="88798" y="177597"/>
                  </a:lnTo>
                  <a:cubicBezTo>
                    <a:pt x="39756" y="177597"/>
                    <a:pt x="0" y="137840"/>
                    <a:pt x="0" y="88798"/>
                  </a:cubicBezTo>
                  <a:lnTo>
                    <a:pt x="0" y="88798"/>
                  </a:lnTo>
                  <a:cubicBezTo>
                    <a:pt x="0" y="39756"/>
                    <a:pt x="39756" y="0"/>
                    <a:pt x="88798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74222" cy="225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Detection-Based Security Auditing Tool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-9378291">
            <a:off x="14710706" y="6781997"/>
            <a:ext cx="6203238" cy="620323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81782" lIns="81782" bIns="81782" rIns="8178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28200" y="7399491"/>
            <a:ext cx="4968251" cy="4968251"/>
            <a:chOff x="0" y="0"/>
            <a:chExt cx="6624335" cy="662433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24335" cy="6624335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47536" y="347536"/>
              <a:ext cx="5929263" cy="59292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-9378291">
            <a:off x="-2579987" y="-2714657"/>
            <a:ext cx="6203238" cy="620323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81782" lIns="81782" bIns="81782" rIns="8178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1962493" y="-2097163"/>
            <a:ext cx="4968251" cy="4968251"/>
            <a:chOff x="0" y="0"/>
            <a:chExt cx="6624335" cy="662433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624335" cy="6624335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47536" y="347536"/>
              <a:ext cx="5929263" cy="5929263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sp>
        <p:nvSpPr>
          <p:cNvPr name="TextBox 28" id="28"/>
          <p:cNvSpPr txBox="true"/>
          <p:nvPr/>
        </p:nvSpPr>
        <p:spPr>
          <a:xfrm rot="0">
            <a:off x="3234840" y="2169478"/>
            <a:ext cx="11818321" cy="249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9"/>
              </a:lnSpc>
            </a:pPr>
            <a:r>
              <a:rPr lang="en-US" b="true" sz="6977" spc="-37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LINUX PRIVILEGE ESCALATION AUTOMATION TOOLKIT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987856" y="5641004"/>
            <a:ext cx="4312289" cy="814129"/>
            <a:chOff x="0" y="0"/>
            <a:chExt cx="1135747" cy="2144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5747" cy="214421"/>
            </a:xfrm>
            <a:custGeom>
              <a:avLst/>
              <a:gdLst/>
              <a:ahLst/>
              <a:cxnLst/>
              <a:rect r="r" b="b" t="t" l="l"/>
              <a:pathLst>
                <a:path h="214421" w="1135747">
                  <a:moveTo>
                    <a:pt x="107210" y="0"/>
                  </a:moveTo>
                  <a:lnTo>
                    <a:pt x="1028537" y="0"/>
                  </a:lnTo>
                  <a:cubicBezTo>
                    <a:pt x="1087747" y="0"/>
                    <a:pt x="1135747" y="48000"/>
                    <a:pt x="1135747" y="107210"/>
                  </a:cubicBezTo>
                  <a:lnTo>
                    <a:pt x="1135747" y="107210"/>
                  </a:lnTo>
                  <a:cubicBezTo>
                    <a:pt x="1135747" y="135644"/>
                    <a:pt x="1124452" y="162914"/>
                    <a:pt x="1104346" y="183020"/>
                  </a:cubicBezTo>
                  <a:cubicBezTo>
                    <a:pt x="1084240" y="203125"/>
                    <a:pt x="1056970" y="214421"/>
                    <a:pt x="1028537" y="214421"/>
                  </a:cubicBezTo>
                  <a:lnTo>
                    <a:pt x="107210" y="214421"/>
                  </a:lnTo>
                  <a:cubicBezTo>
                    <a:pt x="78776" y="214421"/>
                    <a:pt x="51507" y="203125"/>
                    <a:pt x="31401" y="183020"/>
                  </a:cubicBezTo>
                  <a:cubicBezTo>
                    <a:pt x="11295" y="162914"/>
                    <a:pt x="0" y="135644"/>
                    <a:pt x="0" y="107210"/>
                  </a:cubicBezTo>
                  <a:lnTo>
                    <a:pt x="0" y="107210"/>
                  </a:lnTo>
                  <a:cubicBezTo>
                    <a:pt x="0" y="78776"/>
                    <a:pt x="11295" y="51507"/>
                    <a:pt x="31401" y="31401"/>
                  </a:cubicBezTo>
                  <a:cubicBezTo>
                    <a:pt x="51507" y="11295"/>
                    <a:pt x="78776" y="0"/>
                    <a:pt x="107210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135747" cy="252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BY: U M MOHAMED YUSUF SHERIFF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DATE: JAN 03/02/2026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68037" y="2086743"/>
            <a:ext cx="9229072" cy="101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23790"/>
            <a:ext cx="13125816" cy="302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8077" indent="-374038" lvl="1">
              <a:lnSpc>
                <a:spcPts val="4850"/>
              </a:lnSpc>
              <a:spcBef>
                <a:spcPct val="0"/>
              </a:spcBef>
              <a:buFont typeface="Arial"/>
              <a:buChar char="•"/>
            </a:pPr>
            <a:r>
              <a:rPr lang="en-US" sz="3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Linux systems are widely used i</a:t>
            </a:r>
            <a:r>
              <a:rPr lang="en-US" sz="3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 servers and enterprises.</a:t>
            </a:r>
          </a:p>
          <a:p>
            <a:pPr algn="just" marL="748077" indent="-374038" lvl="1">
              <a:lnSpc>
                <a:spcPts val="4850"/>
              </a:lnSpc>
              <a:spcBef>
                <a:spcPct val="0"/>
              </a:spcBef>
              <a:buFont typeface="Arial"/>
              <a:buChar char="•"/>
            </a:pPr>
            <a:r>
              <a:rPr lang="en-US" sz="3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Misconfigurations can allow privilege escalation.</a:t>
            </a:r>
          </a:p>
          <a:p>
            <a:pPr algn="just" marL="748077" indent="-374038" lvl="1">
              <a:lnSpc>
                <a:spcPts val="4850"/>
              </a:lnSpc>
              <a:spcBef>
                <a:spcPct val="0"/>
              </a:spcBef>
              <a:buFont typeface="Arial"/>
              <a:buChar char="•"/>
            </a:pPr>
            <a:r>
              <a:rPr lang="en-US" sz="3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Privilege escalation = normal user gaining root access.</a:t>
            </a:r>
          </a:p>
          <a:p>
            <a:pPr algn="just" marL="748077" indent="-374038" lvl="1">
              <a:lnSpc>
                <a:spcPts val="4850"/>
              </a:lnSpc>
              <a:spcBef>
                <a:spcPct val="0"/>
              </a:spcBef>
              <a:buFont typeface="Arial"/>
              <a:buChar char="•"/>
            </a:pPr>
            <a:r>
              <a:rPr lang="en-US" sz="3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Manual auditing is time-consuming and error-prone.</a:t>
            </a:r>
          </a:p>
          <a:p>
            <a:pPr algn="just" marL="748077" indent="-374038" lvl="1">
              <a:lnSpc>
                <a:spcPts val="4850"/>
              </a:lnSpc>
              <a:spcBef>
                <a:spcPct val="0"/>
              </a:spcBef>
              <a:buFont typeface="Arial"/>
              <a:buChar char="•"/>
            </a:pPr>
            <a:r>
              <a:rPr lang="en-US" sz="3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project develops an automated detection toolkit.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692279"/>
            <a:ext cx="7430547" cy="19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PROJECT 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02858"/>
            <a:ext cx="16748601" cy="322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0670" indent="-395335" lvl="1">
              <a:lnSpc>
                <a:spcPts val="5127"/>
              </a:lnSpc>
              <a:buFont typeface="Arial"/>
              <a:buChar char="•"/>
            </a:pPr>
            <a:r>
              <a:rPr lang="en-US" sz="366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Devel</a:t>
            </a:r>
            <a:r>
              <a:rPr lang="en-US" sz="366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 an automated Linux privilege escalation scanner.</a:t>
            </a:r>
          </a:p>
          <a:p>
            <a:pPr algn="just" marL="790670" indent="-395335" lvl="1">
              <a:lnSpc>
                <a:spcPts val="5127"/>
              </a:lnSpc>
              <a:buFont typeface="Arial"/>
              <a:buChar char="•"/>
            </a:pPr>
            <a:r>
              <a:rPr lang="en-US" sz="366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Identify real-world misconfigurations safely.</a:t>
            </a:r>
          </a:p>
          <a:p>
            <a:pPr algn="just" marL="790670" indent="-395335" lvl="1">
              <a:lnSpc>
                <a:spcPts val="5127"/>
              </a:lnSpc>
              <a:buFont typeface="Arial"/>
              <a:buChar char="•"/>
            </a:pPr>
            <a:r>
              <a:rPr lang="en-US" sz="366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Simulate red-team enumeration techniques.</a:t>
            </a:r>
          </a:p>
          <a:p>
            <a:pPr algn="just" marL="790670" indent="-395335" lvl="1">
              <a:lnSpc>
                <a:spcPts val="5127"/>
              </a:lnSpc>
              <a:buFont typeface="Arial"/>
              <a:buChar char="•"/>
            </a:pPr>
            <a:r>
              <a:rPr lang="en-US" sz="366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Generate structured security audit reports.</a:t>
            </a:r>
          </a:p>
          <a:p>
            <a:pPr algn="just" marL="790670" indent="-395335" lvl="1">
              <a:lnSpc>
                <a:spcPts val="5127"/>
              </a:lnSpc>
              <a:buFont typeface="Arial"/>
              <a:buChar char="•"/>
            </a:pPr>
            <a:r>
              <a:rPr lang="en-US" sz="366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Ensure detection-only (no exploitation).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29711" y="1145688"/>
            <a:ext cx="5327084" cy="7995623"/>
          </a:xfrm>
          <a:custGeom>
            <a:avLst/>
            <a:gdLst/>
            <a:ahLst/>
            <a:cxnLst/>
            <a:rect r="r" b="b" t="t" l="l"/>
            <a:pathLst>
              <a:path h="7995623" w="5327084">
                <a:moveTo>
                  <a:pt x="0" y="0"/>
                </a:moveTo>
                <a:lnTo>
                  <a:pt x="5327084" y="0"/>
                </a:lnTo>
                <a:lnTo>
                  <a:pt x="5327084" y="7995624"/>
                </a:lnTo>
                <a:lnTo>
                  <a:pt x="0" y="79956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9373" y="4267835"/>
            <a:ext cx="7392071" cy="19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TOOLKIT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92924" y="1121847"/>
            <a:ext cx="8615193" cy="196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8044" spc="-43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MODULES IMPLEMENTED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2924" y="3203160"/>
            <a:ext cx="5894411" cy="449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AutoNum type="arabicPeriod" startAt="1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Syst</a:t>
            </a: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 Information Collection</a:t>
            </a:r>
          </a:p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User, groups, kernel version</a:t>
            </a:r>
          </a:p>
          <a:p>
            <a:pPr algn="just">
              <a:lnSpc>
                <a:spcPts val="3280"/>
              </a:lnSpc>
              <a:spcBef>
                <a:spcPct val="0"/>
              </a:spcBef>
            </a:pPr>
          </a:p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AutoNum type="arabicPeriod" startAt="1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UID Binary Scanner</a:t>
            </a:r>
          </a:p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Detects privileged executables</a:t>
            </a:r>
          </a:p>
          <a:p>
            <a:pPr algn="just">
              <a:lnSpc>
                <a:spcPts val="3280"/>
              </a:lnSpc>
              <a:spcBef>
                <a:spcPct val="0"/>
              </a:spcBef>
            </a:pPr>
          </a:p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AutoNum type="arabicPeriod" startAt="1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World-Writable File Scanner</a:t>
            </a:r>
          </a:p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Finds weak file permissions</a:t>
            </a:r>
          </a:p>
          <a:p>
            <a:pPr algn="just">
              <a:lnSpc>
                <a:spcPts val="3280"/>
              </a:lnSpc>
              <a:spcBef>
                <a:spcPct val="0"/>
              </a:spcBef>
            </a:pPr>
          </a:p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AutoNum type="arabicPeriod" startAt="1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Sudo Configuration Check</a:t>
            </a:r>
          </a:p>
          <a:p>
            <a:pPr algn="just" marL="505943" indent="-252971" lvl="1">
              <a:lnSpc>
                <a:spcPts val="3280"/>
              </a:lnSpc>
              <a:spcBef>
                <a:spcPct val="0"/>
              </a:spcBef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Identifies dangerous privileges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08117" y="3203160"/>
            <a:ext cx="5894411" cy="20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0"/>
              </a:lnSpc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5.</a:t>
            </a: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Cron Job Scanner</a:t>
            </a:r>
          </a:p>
          <a:p>
            <a:pPr algn="just" marL="505943" indent="-252971" lvl="1">
              <a:lnSpc>
                <a:spcPts val="3280"/>
              </a:lnSpc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Detects scheduled task risks</a:t>
            </a:r>
          </a:p>
          <a:p>
            <a:pPr algn="just">
              <a:lnSpc>
                <a:spcPts val="3280"/>
              </a:lnSpc>
            </a:pPr>
          </a:p>
          <a:p>
            <a:pPr algn="just">
              <a:lnSpc>
                <a:spcPts val="3280"/>
              </a:lnSpc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6.</a:t>
            </a: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Kernel Version Detection</a:t>
            </a:r>
          </a:p>
          <a:p>
            <a:pPr algn="just" marL="505943" indent="-252971" lvl="1">
              <a:lnSpc>
                <a:spcPts val="3280"/>
              </a:lnSpc>
              <a:buFont typeface="Arial"/>
              <a:buChar char="•"/>
            </a:pP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</a:t>
            </a:r>
            <a:r>
              <a:rPr lang="en-US" sz="23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ed for vulnerability reference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16373" y="1365220"/>
            <a:ext cx="11655254" cy="19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PRACTICAL TESTING 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75548"/>
            <a:ext cx="12182093" cy="378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SUID b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inaries detected successfully.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Several world-writable files identifi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ed.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User had ful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 sudo privileges.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Cron jobs properly secured.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ernel version extracted correctly.</a:t>
            </a:r>
          </a:p>
          <a:p>
            <a:pPr algn="just">
              <a:lnSpc>
                <a:spcPts val="4339"/>
              </a:lnSpc>
              <a:spcBef>
                <a:spcPct val="0"/>
              </a:spcBef>
            </a:pPr>
          </a:p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Toolkit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successfully gen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erated a structured security report.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16373" y="1365220"/>
            <a:ext cx="11655254" cy="101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RISK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75548"/>
            <a:ext cx="12182093" cy="433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R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isk: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Unrestricted sudo access (if unintended)</a:t>
            </a:r>
          </a:p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edium Risk: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Potentially exploitable SUID bin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ries</a:t>
            </a:r>
          </a:p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ow Risk: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cron configurat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ion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</a:p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Info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rmational: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Kernel version reporting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16373" y="1365220"/>
            <a:ext cx="11655254" cy="19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CONCLUSION &amp; LEARNING OUTCOMES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06801"/>
            <a:ext cx="12182093" cy="324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eveloped automated security auditing toolkit.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Gained practical experience in Linux privilege escalation detect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ion.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nderstood 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red-team and blue-team methodologies.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earned modular scripting using Python.</a:t>
            </a:r>
          </a:p>
          <a:p>
            <a:pPr algn="just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Improved cybersecurity reporting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DAHBX25CSms</dc:identifier>
  <dcterms:modified xsi:type="dcterms:W3CDTF">2011-08-01T06:04:30Z</dcterms:modified>
  <cp:revision>1</cp:revision>
  <dc:title>Blue and Black Modern Cybersecurity Presentation</dc:title>
</cp:coreProperties>
</file>